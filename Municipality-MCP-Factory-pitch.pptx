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2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(about 15 s): Meet Lea. She is moving from Zürich to Ausserberg, a village in Valais. She has three simple questions, and like most of us, she asks her AI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(about 20 s): But every municipality publishes differently: a menu here, a PDF there, a link to the canton. So the assistant guesses. We bring it all together into one interface. Now Lea gets Ausserberg's own answer: the online form, the source, and an honest note about what the page does not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(about 12 s): Behind it, AI does the work: one agent reads the pages, a second checks every fact, and it is packaged automatically. Maintenance is near zero. And every one of the 2,110 municipalities is simply one more run: Ausserberg today, the next four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(about 13 s): Switzerland is a patchwork, and that is its strength. Every municipality has its own rules, its own website, even its own rubbish bag. We do not change a single patch. We add the seam: one common interface through the whole quilt. Lea asks once, and every municipality can answer.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890AD-85F5-45BC-5E87-FB8F44E7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2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1867" y="440267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kern="0" spc="150" dirty="0">
                <a:solidFill>
                  <a:srgbClr val="5A6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</a:t>
            </a:r>
            <a:endParaRPr lang="en-US" sz="930" dirty="0"/>
          </a:p>
        </p:txBody>
      </p:sp>
      <p:sp>
        <p:nvSpPr>
          <p:cNvPr id="3" name="Text 1"/>
          <p:cNvSpPr txBox="1"/>
          <p:nvPr/>
        </p:nvSpPr>
        <p:spPr>
          <a:xfrm>
            <a:off x="541867" y="711200"/>
            <a:ext cx="1110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 is moving from Zürich to Ausserberg.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1867" y="6383867"/>
            <a:ext cx="11108267" cy="0"/>
          </a:xfrm>
          <a:prstGeom prst="line">
            <a:avLst/>
          </a:prstGeom>
          <a:noFill/>
          <a:ln w="9525">
            <a:solidFill>
              <a:srgbClr val="CDD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 txBox="1"/>
          <p:nvPr/>
        </p:nvSpPr>
        <p:spPr>
          <a:xfrm>
            <a:off x="7416800" y="6451600"/>
            <a:ext cx="423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7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MCP Factory</a:t>
            </a:r>
            <a:endParaRPr lang="en-US" sz="870" dirty="0"/>
          </a:p>
        </p:txBody>
      </p:sp>
      <p:pic>
        <p:nvPicPr>
          <p:cNvPr id="7" name="Image 0" descr="Lea carries a moving box from Zürich to Ausserber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8667"/>
            <a:ext cx="10972800" cy="283633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67867" y="4995333"/>
            <a:ext cx="3048000" cy="423333"/>
          </a:xfrm>
          <a:prstGeom prst="roundRect">
            <a:avLst>
              <a:gd name="adj" fmla="val 28000"/>
            </a:avLst>
          </a:prstGeom>
          <a:solidFill>
            <a:srgbClr val="1620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 txBox="1"/>
          <p:nvPr/>
        </p:nvSpPr>
        <p:spPr>
          <a:xfrm>
            <a:off x="5520267" y="5080000"/>
            <a:ext cx="274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B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register my new address?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8517467" y="4995333"/>
            <a:ext cx="3132667" cy="423333"/>
          </a:xfrm>
          <a:prstGeom prst="roundRect">
            <a:avLst>
              <a:gd name="adj" fmla="val 28000"/>
            </a:avLst>
          </a:prstGeom>
          <a:solidFill>
            <a:srgbClr val="1620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0"/>
          <p:cNvSpPr txBox="1"/>
          <p:nvPr/>
        </p:nvSpPr>
        <p:spPr>
          <a:xfrm>
            <a:off x="8669867" y="5080000"/>
            <a:ext cx="28278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B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the Gemeindekanzlei open?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8094133" y="5520267"/>
            <a:ext cx="3556000" cy="423333"/>
          </a:xfrm>
          <a:prstGeom prst="roundRect">
            <a:avLst>
              <a:gd name="adj" fmla="val 28000"/>
            </a:avLst>
          </a:prstGeom>
          <a:solidFill>
            <a:srgbClr val="1620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 txBox="1"/>
          <p:nvPr/>
        </p:nvSpPr>
        <p:spPr>
          <a:xfrm>
            <a:off x="8246533" y="5604933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B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I put out the paper collection?</a:t>
            </a:r>
            <a:endParaRPr lang="en-US" sz="12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1867" y="440267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kern="0" spc="150" dirty="0">
                <a:solidFill>
                  <a:srgbClr val="5A6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30" dirty="0"/>
          </a:p>
        </p:txBody>
      </p:sp>
      <p:sp>
        <p:nvSpPr>
          <p:cNvPr id="3" name="Text 1"/>
          <p:cNvSpPr txBox="1"/>
          <p:nvPr/>
        </p:nvSpPr>
        <p:spPr>
          <a:xfrm>
            <a:off x="541867" y="711200"/>
            <a:ext cx="11108267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websites, one interface: Lea gets Ausserberg's own answer.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1867" y="6383867"/>
            <a:ext cx="11108267" cy="0"/>
          </a:xfrm>
          <a:prstGeom prst="line">
            <a:avLst/>
          </a:prstGeom>
          <a:noFill/>
          <a:ln w="9525">
            <a:solidFill>
              <a:srgbClr val="CDD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541867" y="6451600"/>
            <a:ext cx="423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AI Challenge · Team Capricorn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7416800" y="6451600"/>
            <a:ext cx="423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7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MCP Factory</a:t>
            </a:r>
            <a:endParaRPr lang="en-US" sz="870" dirty="0"/>
          </a:p>
        </p:txBody>
      </p:sp>
      <p:pic>
        <p:nvPicPr>
          <p:cNvPr id="7" name="Image 0" descr="Three municipal websites brought together by a curly brace into one inter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7" y="2455333"/>
            <a:ext cx="6434667" cy="3090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9CEF66-E7B5-E3EA-AE26-92C72ADC5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29" r="31250"/>
          <a:stretch>
            <a:fillRect/>
          </a:stretch>
        </p:blipFill>
        <p:spPr>
          <a:xfrm>
            <a:off x="6976534" y="1936584"/>
            <a:ext cx="2806811" cy="4210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1867" y="440267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kern="0" spc="150" dirty="0">
                <a:solidFill>
                  <a:srgbClr val="5A6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AND SCALE</a:t>
            </a:r>
            <a:endParaRPr lang="en-US" sz="930" dirty="0"/>
          </a:p>
        </p:txBody>
      </p:sp>
      <p:sp>
        <p:nvSpPr>
          <p:cNvPr id="3" name="Text 1"/>
          <p:cNvSpPr txBox="1"/>
          <p:nvPr/>
        </p:nvSpPr>
        <p:spPr>
          <a:xfrm>
            <a:off x="541867" y="711200"/>
            <a:ext cx="11108267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and packages it. Every municipality is one more run.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1867" y="6383867"/>
            <a:ext cx="11108267" cy="0"/>
          </a:xfrm>
          <a:prstGeom prst="line">
            <a:avLst/>
          </a:prstGeom>
          <a:noFill/>
          <a:ln w="9525">
            <a:solidFill>
              <a:srgbClr val="CDD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 txBox="1"/>
          <p:nvPr/>
        </p:nvSpPr>
        <p:spPr>
          <a:xfrm>
            <a:off x="7416800" y="6451600"/>
            <a:ext cx="423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7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MCP Factory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762000" y="1998133"/>
            <a:ext cx="1947333" cy="321733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397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880533" y="2108200"/>
            <a:ext cx="101600" cy="101600"/>
          </a:xfrm>
          <a:prstGeom prst="ellipse">
            <a:avLst/>
          </a:prstGeom>
          <a:solidFill>
            <a:srgbClr val="C4291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 txBox="1"/>
          <p:nvPr/>
        </p:nvSpPr>
        <p:spPr>
          <a:xfrm>
            <a:off x="1066800" y="1998133"/>
            <a:ext cx="16086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Ausserberg · today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2726267" y="2159000"/>
            <a:ext cx="660400" cy="812800"/>
          </a:xfrm>
          <a:prstGeom prst="line">
            <a:avLst/>
          </a:prstGeom>
          <a:noFill/>
          <a:ln w="13970">
            <a:solidFill>
              <a:srgbClr val="1620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762000" y="2404533"/>
            <a:ext cx="1947333" cy="321733"/>
          </a:xfrm>
          <a:prstGeom prst="roundRect">
            <a:avLst>
              <a:gd name="adj" fmla="val 18421"/>
            </a:avLst>
          </a:prstGeom>
          <a:ln w="1397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 txBox="1"/>
          <p:nvPr/>
        </p:nvSpPr>
        <p:spPr>
          <a:xfrm>
            <a:off x="931333" y="2404533"/>
            <a:ext cx="16086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2726267" y="2565400"/>
            <a:ext cx="660400" cy="406400"/>
          </a:xfrm>
          <a:prstGeom prst="line">
            <a:avLst/>
          </a:prstGeom>
          <a:noFill/>
          <a:ln w="1270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762000" y="2810933"/>
            <a:ext cx="1947333" cy="321733"/>
          </a:xfrm>
          <a:prstGeom prst="roundRect">
            <a:avLst>
              <a:gd name="adj" fmla="val 18421"/>
            </a:avLst>
          </a:prstGeom>
          <a:ln w="1397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 txBox="1"/>
          <p:nvPr/>
        </p:nvSpPr>
        <p:spPr>
          <a:xfrm>
            <a:off x="931333" y="2810933"/>
            <a:ext cx="16086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Bosco/Gurin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2726267" y="2971800"/>
            <a:ext cx="660400" cy="0"/>
          </a:xfrm>
          <a:prstGeom prst="line">
            <a:avLst/>
          </a:prstGeom>
          <a:noFill/>
          <a:ln w="1270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762000" y="3217333"/>
            <a:ext cx="1947333" cy="321733"/>
          </a:xfrm>
          <a:prstGeom prst="roundRect">
            <a:avLst>
              <a:gd name="adj" fmla="val 18421"/>
            </a:avLst>
          </a:prstGeom>
          <a:ln w="1397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 txBox="1"/>
          <p:nvPr/>
        </p:nvSpPr>
        <p:spPr>
          <a:xfrm>
            <a:off x="931333" y="3217333"/>
            <a:ext cx="16086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Dübendorf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 flipV="1">
            <a:off x="2726267" y="2971800"/>
            <a:ext cx="660400" cy="406400"/>
          </a:xfrm>
          <a:prstGeom prst="line">
            <a:avLst/>
          </a:prstGeom>
          <a:noFill/>
          <a:ln w="1270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762000" y="3623733"/>
            <a:ext cx="1947333" cy="321733"/>
          </a:xfrm>
          <a:prstGeom prst="roundRect">
            <a:avLst>
              <a:gd name="adj" fmla="val 18421"/>
            </a:avLst>
          </a:prstGeom>
          <a:ln w="13970">
            <a:solidFill>
              <a:srgbClr val="C4291D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 txBox="1"/>
          <p:nvPr/>
        </p:nvSpPr>
        <p:spPr>
          <a:xfrm>
            <a:off x="931333" y="3623733"/>
            <a:ext cx="16086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C42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Gemeinde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 flipV="1">
            <a:off x="2726267" y="2971800"/>
            <a:ext cx="660400" cy="812800"/>
          </a:xfrm>
          <a:prstGeom prst="line">
            <a:avLst/>
          </a:prstGeom>
          <a:noFill/>
          <a:ln w="12700">
            <a:solidFill>
              <a:srgbClr val="C4291D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 rot="5400000">
            <a:off x="3352800" y="2929467"/>
            <a:ext cx="93133" cy="84667"/>
          </a:xfrm>
          <a:prstGeom prst="triangle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3471333" y="2633133"/>
            <a:ext cx="1947333" cy="677333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524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 txBox="1"/>
          <p:nvPr/>
        </p:nvSpPr>
        <p:spPr>
          <a:xfrm>
            <a:off x="3522133" y="2633133"/>
            <a:ext cx="18457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09733" y="2633133"/>
            <a:ext cx="1947333" cy="677333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5240">
            <a:solidFill>
              <a:srgbClr val="1F5F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 txBox="1"/>
          <p:nvPr/>
        </p:nvSpPr>
        <p:spPr>
          <a:xfrm>
            <a:off x="5960533" y="2633133"/>
            <a:ext cx="18457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checks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133" y="2633133"/>
            <a:ext cx="1862667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A97A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 txBox="1"/>
          <p:nvPr/>
        </p:nvSpPr>
        <p:spPr>
          <a:xfrm>
            <a:off x="8398933" y="2633133"/>
            <a:ext cx="1761067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format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66400" y="2633133"/>
            <a:ext cx="863600" cy="677333"/>
          </a:xfrm>
          <a:prstGeom prst="roundRect">
            <a:avLst>
              <a:gd name="adj" fmla="val 10000"/>
            </a:avLst>
          </a:prstGeom>
          <a:ln w="15240">
            <a:solidFill>
              <a:srgbClr val="8A97A2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 txBox="1"/>
          <p:nvPr/>
        </p:nvSpPr>
        <p:spPr>
          <a:xfrm>
            <a:off x="10600267" y="2633133"/>
            <a:ext cx="795867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assistant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35600" y="2971800"/>
            <a:ext cx="457200" cy="0"/>
          </a:xfrm>
          <a:prstGeom prst="line">
            <a:avLst/>
          </a:prstGeom>
          <a:noFill/>
          <a:ln w="15240">
            <a:solidFill>
              <a:srgbClr val="16202A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33" name="Shape 31"/>
          <p:cNvSpPr/>
          <p:nvPr/>
        </p:nvSpPr>
        <p:spPr>
          <a:xfrm>
            <a:off x="7874000" y="2971800"/>
            <a:ext cx="457200" cy="0"/>
          </a:xfrm>
          <a:prstGeom prst="line">
            <a:avLst/>
          </a:prstGeom>
          <a:noFill/>
          <a:ln w="15240">
            <a:solidFill>
              <a:srgbClr val="16202A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10227733" y="2971800"/>
            <a:ext cx="321733" cy="0"/>
          </a:xfrm>
          <a:prstGeom prst="line">
            <a:avLst/>
          </a:prstGeom>
          <a:noFill/>
          <a:ln w="15240">
            <a:solidFill>
              <a:srgbClr val="16202A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pic>
        <p:nvPicPr>
          <p:cNvPr id="35" name="Image 0" descr="2,110 dots, one per municipality; Ausserberg highlighted, four more outli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67" y="4148667"/>
            <a:ext cx="9381067" cy="1761067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217333" y="6045200"/>
            <a:ext cx="110067" cy="110067"/>
          </a:xfrm>
          <a:prstGeom prst="ellipse">
            <a:avLst/>
          </a:prstGeom>
          <a:solidFill>
            <a:srgbClr val="C4291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7" name="Text 34"/>
          <p:cNvSpPr txBox="1"/>
          <p:nvPr/>
        </p:nvSpPr>
        <p:spPr>
          <a:xfrm>
            <a:off x="3395133" y="6011333"/>
            <a:ext cx="1354667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Ausserberg, today</a:t>
            </a:r>
            <a:endParaRPr lang="en-US" sz="1130" dirty="0"/>
          </a:p>
        </p:txBody>
      </p:sp>
      <p:sp>
        <p:nvSpPr>
          <p:cNvPr id="38" name="Shape 35"/>
          <p:cNvSpPr/>
          <p:nvPr/>
        </p:nvSpPr>
        <p:spPr>
          <a:xfrm>
            <a:off x="4893733" y="6053667"/>
            <a:ext cx="101600" cy="101600"/>
          </a:xfrm>
          <a:prstGeom prst="ellipse">
            <a:avLst/>
          </a:prstGeom>
          <a:ln w="20320">
            <a:solidFill>
              <a:srgbClr val="C4291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6"/>
          <p:cNvSpPr txBox="1"/>
          <p:nvPr/>
        </p:nvSpPr>
        <p:spPr>
          <a:xfrm>
            <a:off x="5063067" y="6011333"/>
            <a:ext cx="846667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four</a:t>
            </a:r>
            <a:endParaRPr lang="en-US" sz="1130" dirty="0"/>
          </a:p>
        </p:txBody>
      </p:sp>
      <p:sp>
        <p:nvSpPr>
          <p:cNvPr id="40" name="Text 37"/>
          <p:cNvSpPr txBox="1"/>
          <p:nvPr/>
        </p:nvSpPr>
        <p:spPr>
          <a:xfrm>
            <a:off x="5926667" y="6011333"/>
            <a:ext cx="3217333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2000 municipalities</a:t>
            </a:r>
            <a:endParaRPr lang="en-US" sz="113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68EB4D-6AA3-B5DD-4E85-665F295B6EE7}"/>
              </a:ext>
            </a:extLst>
          </p:cNvPr>
          <p:cNvSpPr/>
          <p:nvPr/>
        </p:nvSpPr>
        <p:spPr>
          <a:xfrm>
            <a:off x="3327400" y="2108200"/>
            <a:ext cx="7049052" cy="15748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A2FD85-4A46-7BF4-6398-39CCD0C671D0}"/>
              </a:ext>
            </a:extLst>
          </p:cNvPr>
          <p:cNvSpPr txBox="1"/>
          <p:nvPr/>
        </p:nvSpPr>
        <p:spPr>
          <a:xfrm>
            <a:off x="3441700" y="2209800"/>
            <a:ext cx="248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/>
              <a:t>Factory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1867" y="440267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kern="0" spc="150" dirty="0">
                <a:solidFill>
                  <a:srgbClr val="5A6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FEDERALISM</a:t>
            </a:r>
            <a:endParaRPr lang="en-US" sz="930" dirty="0"/>
          </a:p>
        </p:txBody>
      </p:sp>
      <p:sp>
        <p:nvSpPr>
          <p:cNvPr id="3" name="Text 1"/>
          <p:cNvSpPr txBox="1"/>
          <p:nvPr/>
        </p:nvSpPr>
        <p:spPr>
          <a:xfrm>
            <a:off x="541867" y="711200"/>
            <a:ext cx="1110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by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1867" y="6383867"/>
            <a:ext cx="11108267" cy="0"/>
          </a:xfrm>
          <a:prstGeom prst="line">
            <a:avLst/>
          </a:prstGeom>
          <a:noFill/>
          <a:ln w="9525">
            <a:solidFill>
              <a:srgbClr val="CDD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 txBox="1"/>
          <p:nvPr/>
        </p:nvSpPr>
        <p:spPr>
          <a:xfrm>
            <a:off x="7416800" y="6451600"/>
            <a:ext cx="423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70" dirty="0">
                <a:solidFill>
                  <a:srgbClr val="5A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MCP Factory</a:t>
            </a:r>
            <a:endParaRPr lang="en-US" sz="870" dirty="0"/>
          </a:p>
        </p:txBody>
      </p:sp>
      <p:pic>
        <p:nvPicPr>
          <p:cNvPr id="7" name="Image 0" descr="Switzerland as a stitched patchwork quilt: every region a different fabric, colour and pattern, held together by stitched seam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333" y="1490133"/>
            <a:ext cx="6265333" cy="4699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79733" y="2980267"/>
            <a:ext cx="44704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E3E20-05D5-F862-D9DD-AA9A3B01D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Widescreen</PresentationFormat>
  <Paragraphs>37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 AI Challenge · Team 34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Municipality MCP Factory pitch</dc:title>
  <dc:creator>Dominik Scherrer</dc:creator>
  <cp:lastModifiedBy>Dominik Scherrer</cp:lastModifiedBy>
  <cp:revision>4</cp:revision>
  <dcterms:created xsi:type="dcterms:W3CDTF">2026-09-25T09:23:21Z</dcterms:created>
  <dcterms:modified xsi:type="dcterms:W3CDTF">2026-09-25T09:54:24Z</dcterms:modified>
</cp:coreProperties>
</file>